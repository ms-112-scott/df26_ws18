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DAA9C9-0BF1-4802-BBC6-1591C918998A}"/>
              </a:ext>
            </a:extLst>
          </p:cNvPr>
          <p:cNvSpPr/>
          <p:nvPr userDrawn="1"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Python </a:t>
            </a:r>
            <a:r>
              <a:rPr sz="44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基礎</a:t>
            </a:r>
            <a:r>
              <a:rPr sz="44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 · </a:t>
            </a:r>
            <a:r>
              <a:rPr sz="4400" b="1" dirty="0" err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觀念與比喻</a:t>
            </a:r>
            <a:endParaRPr sz="44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課程目錄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81328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PY01 核心語法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01952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變數型別 · 條件 · for / while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1591056"/>
            <a:ext cx="73152" cy="530352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22576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322576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395728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PY02 資料結構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清單與索引切片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75720" y="2432304"/>
            <a:ext cx="73152" cy="530352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163824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163824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236976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PY03 函式（最重要）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84448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def/return · 參數 · 純函式（關鍵字配色）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75720" y="3273552"/>
            <a:ext cx="73152" cy="5303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005072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4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4FD6D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005072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078224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PY04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2569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np 是什麼 · 櫃子格與魔術方塊 tensor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75720" y="4114800"/>
            <a:ext cx="73152" cy="530352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4846320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4919472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PY06 matplotlib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66944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兩種介面 · 圖的層次與元素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75720" y="4956048"/>
            <a:ext cx="73152" cy="530352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687568"/>
            <a:ext cx="566928" cy="749808"/>
          </a:xfrm>
          <a:prstGeom prst="rect">
            <a:avLst/>
          </a:prstGeom>
          <a:solidFill>
            <a:srgbClr val="0E1116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5687568"/>
            <a:ext cx="10424160" cy="749808"/>
          </a:xfrm>
          <a:prstGeom prst="rect">
            <a:avLst/>
          </a:prstGeom>
          <a:solidFill>
            <a:srgbClr val="1A1F29"/>
          </a:solidFill>
          <a:ln w="15875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5760720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PY11 地理 / 圖論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6108192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向量幾何 shapely · 圖 networkx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75720" y="5797296"/>
            <a:ext cx="73152" cy="5303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01_py基礎教學（全六章導覽）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變數、型別與註解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VARIABLE / TYPE /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變數、型別與註解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name = "</a:t>
            </a: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林小明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"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str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文字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age = 21      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int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整數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height = 173.5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float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小數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is_student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= True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bool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print(type(age))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 dirty="0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同一名稱可改綁不同型別</a:t>
            </a:r>
            <a:endParaRPr sz="1600" b="1" dirty="0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age = "</a:t>
            </a:r>
            <a:r>
              <a:rPr sz="1600" b="1" dirty="0" err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二十一</a:t>
            </a:r>
            <a:r>
              <a:rPr sz="1600" b="1" dirty="0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"       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int </a:t>
            </a:r>
            <a:r>
              <a:rPr sz="1600" b="1" dirty="0" err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改綁</a:t>
            </a:r>
            <a:r>
              <a:rPr sz="1600" b="1" dirty="0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 str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2AA527-EE92-428D-9968-3F206FF7E9DA}"/>
              </a:ext>
            </a:extLst>
          </p:cNvPr>
          <p:cNvSpPr/>
          <p:nvPr/>
        </p:nvSpPr>
        <p:spPr>
          <a:xfrm>
            <a:off x="6908800" y="2265680"/>
            <a:ext cx="1463040" cy="90424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>
                <a:solidFill>
                  <a:srgbClr val="C79BFF"/>
                </a:solidFill>
                <a:latin typeface="Microsoft JhengHei"/>
                <a:ea typeface="Microsoft JhengHei"/>
              </a:rPr>
              <a:t>b</a:t>
            </a:r>
            <a:r>
              <a:rPr lang="en-US" altLang="zh-TW" sz="1600" b="1" dirty="0">
                <a:solidFill>
                  <a:srgbClr val="C79BFF"/>
                </a:solidFill>
                <a:latin typeface="Microsoft JhengHei"/>
                <a:ea typeface="Microsoft JhengHei"/>
              </a:rPr>
              <a:t>ool </a:t>
            </a:r>
            <a:endParaRPr lang="zh-TW" altLang="en-US" sz="1600" b="1" dirty="0">
              <a:solidFill>
                <a:srgbClr val="C79BFF"/>
              </a:solidFill>
              <a:latin typeface="Microsoft JhengHei"/>
              <a:ea typeface="Microsoft Jheng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CB6B2D-EA19-45FE-A4D4-5CB7C8926072}"/>
              </a:ext>
            </a:extLst>
          </p:cNvPr>
          <p:cNvSpPr/>
          <p:nvPr/>
        </p:nvSpPr>
        <p:spPr>
          <a:xfrm>
            <a:off x="9555480" y="2247392"/>
            <a:ext cx="1463040" cy="9042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b="1" dirty="0">
                <a:solidFill>
                  <a:srgbClr val="6FE36F"/>
                </a:solidFill>
                <a:latin typeface="Microsoft JhengHei"/>
                <a:ea typeface="Microsoft JhengHei"/>
              </a:rPr>
              <a:t>str</a:t>
            </a:r>
            <a:endParaRPr lang="zh-TW" altLang="en-US" b="1" dirty="0">
              <a:solidFill>
                <a:srgbClr val="6FE36F"/>
              </a:solidFill>
              <a:latin typeface="Microsoft JhengHei"/>
              <a:ea typeface="Microsoft Jheng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EF5687-C267-4BFC-9086-03675D26A5E1}"/>
              </a:ext>
            </a:extLst>
          </p:cNvPr>
          <p:cNvSpPr/>
          <p:nvPr/>
        </p:nvSpPr>
        <p:spPr>
          <a:xfrm>
            <a:off x="6908800" y="4100576"/>
            <a:ext cx="1463040" cy="904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 dirty="0">
                <a:solidFill>
                  <a:srgbClr val="F2F5FA"/>
                </a:solidFill>
                <a:latin typeface="Microsoft JhengHei"/>
                <a:ea typeface="Microsoft JhengHei"/>
              </a:rPr>
              <a:t>int</a:t>
            </a:r>
            <a:endParaRPr lang="zh-TW" altLang="en-US" sz="1600" b="1" dirty="0">
              <a:solidFill>
                <a:srgbClr val="F2F5FA"/>
              </a:solidFill>
              <a:latin typeface="Microsoft JhengHei"/>
              <a:ea typeface="Microsoft Jheng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72A06C-6EF2-43BB-AED7-1735B57F6DB7}"/>
              </a:ext>
            </a:extLst>
          </p:cNvPr>
          <p:cNvSpPr/>
          <p:nvPr/>
        </p:nvSpPr>
        <p:spPr>
          <a:xfrm>
            <a:off x="9555480" y="4082288"/>
            <a:ext cx="1463040" cy="904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100"/>
              </a:spcAft>
            </a:pPr>
            <a:r>
              <a:rPr lang="en-US" altLang="zh-TW" sz="1600" b="1" dirty="0">
                <a:solidFill>
                  <a:srgbClr val="FFD166"/>
                </a:solidFill>
                <a:latin typeface="Microsoft JhengHei"/>
                <a:ea typeface="Microsoft JhengHei"/>
              </a:rPr>
              <a:t>float</a:t>
            </a:r>
            <a:endParaRPr lang="zh-TW" altLang="en-US" sz="1600" b="1" dirty="0">
              <a:solidFill>
                <a:srgbClr val="FFD166"/>
              </a:solidFill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條件判斷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IF / ELIF / ELSE · TRUTHINESS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條件判斷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score = 76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90: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"A"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80: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"B"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score &gt;= 60: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"C"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else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grade = "F"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真值測試：空字串視為假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user_input: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...</a:t>
            </a:r>
          </a:p>
        </p:txBody>
      </p:sp>
      <p:sp>
        <p:nvSpPr>
          <p:cNvPr id="15" name="Diamond 14"/>
          <p:cNvSpPr/>
          <p:nvPr/>
        </p:nvSpPr>
        <p:spPr>
          <a:xfrm>
            <a:off x="8092440" y="2880360"/>
            <a:ext cx="1737360" cy="685800"/>
          </a:xfrm>
          <a:prstGeom prst="diamond">
            <a:avLst/>
          </a:prstGeom>
          <a:solidFill>
            <a:srgbClr val="322910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≥90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2926080"/>
            <a:ext cx="1188720" cy="56692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829800" y="3209544"/>
            <a:ext cx="182880" cy="18288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8092440" y="3840480"/>
            <a:ext cx="1737360" cy="640080"/>
          </a:xfrm>
          <a:prstGeom prst="diamond">
            <a:avLst/>
          </a:prstGeom>
          <a:solidFill>
            <a:srgbClr val="322910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≥80 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3566160"/>
            <a:ext cx="0" cy="274320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012680" y="3886200"/>
            <a:ext cx="1188720" cy="5486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9800" y="4160520"/>
            <a:ext cx="182880" cy="0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092440" y="4663440"/>
            <a:ext cx="1737360" cy="54864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else → 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4480560"/>
            <a:ext cx="0" cy="182880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83680" y="5532120"/>
            <a:ext cx="5029200" cy="868680"/>
          </a:xfrm>
          <a:prstGeom prst="rect">
            <a:avLst/>
          </a:prstGeom>
          <a:solidFill>
            <a:srgbClr val="3A1619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真值測試：空＝假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"" · 0 · None · 空list/dict 都是假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for 迴圈與累加器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FOR · RANGE · ACCUMULATOR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　PY01_核心語法.ipynb · for </a:t>
            </a:r>
            <a:r>
              <a:rPr sz="1600" b="1" dirty="0" err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迴圈與</a:t>
            </a:r>
            <a:r>
              <a:rPr sz="1600" b="1" dirty="0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 range()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total = 0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累加器（撲滿）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count =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n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range(1, 11):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total = total + 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count = count + 1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print(total)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55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print(total / count)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2971800"/>
            <a:ext cx="2286000" cy="1828800"/>
          </a:xfrm>
          <a:prstGeom prst="ellipse">
            <a:avLst/>
          </a:prstGeom>
          <a:noFill/>
          <a:ln w="381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657600"/>
            <a:ext cx="1920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3154680"/>
            <a:ext cx="2011680" cy="137160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撲滿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0→1→3→…→55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06840" y="3840480"/>
            <a:ext cx="457200" cy="0"/>
          </a:xfrm>
          <a:prstGeom prst="line">
            <a:avLst/>
          </a:prstGeom>
          <a:ln w="28575">
            <a:solidFill>
              <a:srgbClr val="FFB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0" y="5212080"/>
            <a:ext cx="5029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range 給「跑幾圈」的序列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累加器先歸零，迴圈內逐筆加總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while 迴圈與二分逼近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WHILE · BREAK ·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PY01_核心語法.ipynb · while 迴圈與流程跳脫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low, high = 0.0, 2.0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while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True: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mid = (low + high) /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abs(mid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*mid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- 2) &lt; 1e-6: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break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夠準就停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mid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*mid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&gt; 2: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high = mid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左半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else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low = mid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右半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print("√2 ≈", mid)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926080"/>
            <a:ext cx="457200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0.0  …… 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566160"/>
            <a:ext cx="338328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1.0  …… 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4206240"/>
            <a:ext cx="2377440" cy="512064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1.25 …… 1.5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4846320"/>
            <a:ext cx="1737360" cy="512064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√2 ≈ 1.41421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532120"/>
            <a:ext cx="5029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中點當猜測 → 依結果丟掉一半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清單與索引切片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LIST · INDEXING · SLICING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比喻圖像 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PY02_資料結構與推導式.ipynb · 清單與索引切片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 = [22, 24, 19, 21, 25]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temps.append(26)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尾端加一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temps.extend([18, 17])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接一串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temps[0]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temps[-1]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最後一個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temps[-3:]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後三個（切片）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55648"/>
            <a:ext cx="73152" cy="60350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52120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比喻　一排有編號的置物櫃；切片取其中一段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78440" y="3200400"/>
            <a:ext cx="868680" cy="777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89864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99592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3127248"/>
            <a:ext cx="2788920" cy="932688"/>
          </a:xfrm>
          <a:prstGeom prst="rect">
            <a:avLst/>
          </a:prstGeom>
          <a:noFill/>
          <a:ln w="381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663440"/>
            <a:ext cx="51206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append 加一個；extend 逐一接上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[-3:] 取最後三格（不含結尾的 b）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PY03 關鍵字配色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KEYWORD COLOR LEGEND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02920" cy="548640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def /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定義函式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58568"/>
            <a:ext cx="502920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258568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回傳結果（≠ print）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16935"/>
            <a:ext cx="502920" cy="54864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916935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*args / **kwargs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16935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收集不定量參數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75303"/>
            <a:ext cx="502920" cy="548640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575303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4FD6D6"/>
                </a:solidFill>
                <a:latin typeface="Microsoft JhengHei"/>
                <a:ea typeface="Microsoft JhengHei"/>
                <a:cs typeface="Microsoft JhengHei"/>
              </a:rPr>
              <a:t>nonlocal /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75303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改外層 / 全域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33671"/>
            <a:ext cx="502920" cy="548640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4233671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import /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33671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引入模組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39"/>
            <a:ext cx="502920" cy="5486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892039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C14E"/>
                </a:solidFill>
                <a:latin typeface="Microsoft JhengHei"/>
                <a:ea typeface="Microsoft JhengHei"/>
                <a:cs typeface="Microsoft JhengHei"/>
              </a:rPr>
              <a:t>for / if / while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39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流程控制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50407"/>
            <a:ext cx="502920" cy="548640"/>
          </a:xfrm>
          <a:prstGeom prst="rect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5550407"/>
            <a:ext cx="47548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6B7686"/>
                </a:solidFill>
                <a:latin typeface="Microsoft JhengHei"/>
                <a:ea typeface="Microsoft JhengHei"/>
                <a:cs typeface="Microsoft JhengHei"/>
              </a:rPr>
              <a:t># 註解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50407"/>
            <a:ext cx="5303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說明為什麼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配色規則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函式基礎：return vs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DEF · RETURN ≠ 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函式基礎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c_to_f_return(c):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*9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/5 + 32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交回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c_to_f_print(c):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print(c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*9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/5 + 32)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只顯示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f1 = c_to_f_return(25)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print(f1 + 1)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可再用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f2 = c_to_f_print(25)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print(f2)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1280160" cy="6858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輸入 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898648"/>
            <a:ext cx="1737360" cy="8229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函式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機器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3310128"/>
            <a:ext cx="228600" cy="0"/>
          </a:xfrm>
          <a:prstGeom prst="line">
            <a:avLst/>
          </a:prstGeom>
          <a:ln w="28575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12680" y="2898648"/>
            <a:ext cx="1554480" cy="82296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return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77.0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3310128"/>
            <a:ext cx="228600" cy="0"/>
          </a:xfrm>
          <a:prstGeom prst="line">
            <a:avLst/>
          </a:prstGeom>
          <a:ln w="28575">
            <a:solidFill>
              <a:srgbClr val="6FE3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46720" y="4297680"/>
            <a:ext cx="1737360" cy="777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print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公告欄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15400" y="3721608"/>
            <a:ext cx="0" cy="576072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12680" y="4315968"/>
            <a:ext cx="1554480" cy="73152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4080" y="4681728"/>
            <a:ext cx="228600" cy="0"/>
          </a:xfrm>
          <a:prstGeom prst="line">
            <a:avLst/>
          </a:prstGeom>
          <a:ln w="28575">
            <a:solidFill>
              <a:srgbClr val="9AA4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7960" y="5303520"/>
            <a:ext cx="51206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只看得到、拿不回來 → 存起來是 None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參數的多種樣貌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POSITIONAL · DEFAULT · *ARGS · **KWARGS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參數的多種樣貌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greet(greeting, 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*names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  punc='。', </a:t>
            </a:r>
            <a:r>
              <a:rPr sz="1600" b="1">
                <a:solidFill>
                  <a:srgbClr val="FFB454"/>
                </a:solidFill>
                <a:latin typeface="Consolas"/>
                <a:ea typeface="Microsoft JhengHei"/>
                <a:cs typeface="Microsoft JhengHei"/>
              </a:rPr>
              <a:t>**opts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who = '、'.join(names) or '大家'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line = f'{greeting}，{who}{punc}'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k, v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opts.items():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    line += f'（{k}={v}）'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26080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26080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必填（位置）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621024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21024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任意加點 → tuple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315968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punc='。'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15968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預設（可省略）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5010912"/>
            <a:ext cx="2468880" cy="603504"/>
          </a:xfrm>
          <a:prstGeom prst="rect">
            <a:avLst/>
          </a:prstGeom>
          <a:solidFill>
            <a:srgbClr val="0E1116"/>
          </a:solidFill>
          <a:ln w="254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**opts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010912"/>
            <a:ext cx="25603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額外備註 → 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724143"/>
            <a:ext cx="52120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順序：一般→預設→*args→**kwargs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純函式 vs 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PURE FUNCTION VS SIDE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PY03_函式與程式組織.ipynb · 純函式與副作用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add_impure(nums, v):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nums.append(v)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改到傳入！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sum(nums)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5AB0FF"/>
                </a:solidFill>
                <a:latin typeface="Consolas"/>
                <a:ea typeface="Microsoft JhengHei"/>
                <a:cs typeface="Microsoft JhengHei"/>
              </a:rPr>
              <a:t>def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add_pure(nums, v):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new = nums + [v]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造新清單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</a:t>
            </a:r>
            <a:r>
              <a:rPr sz="1600" b="1">
                <a:solidFill>
                  <a:srgbClr val="FF6B6B"/>
                </a:solidFill>
                <a:latin typeface="Consolas"/>
                <a:ea typeface="Microsoft JhengHei"/>
                <a:cs typeface="Microsoft JhengHei"/>
              </a:rPr>
              <a:t>return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sum(new)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data = [10, 20, 30]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add_impure(data, 40)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data 被改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add_pure(data, 40)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data 不變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2468880" cy="164592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純函式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自動販賣機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同輸入→同輸出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不動原始資料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2971800"/>
            <a:ext cx="2468880" cy="1645920"/>
          </a:xfrm>
          <a:prstGeom prst="rect">
            <a:avLst/>
          </a:prstGeom>
          <a:solidFill>
            <a:srgbClr val="3A1619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有副作用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偷改隔壁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改到外部清單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別處會壞掉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46320"/>
            <a:ext cx="52120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好測試、好重用、不偷改別人資料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要改就回傳「新的一份」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NumPy：整齊的櫃子格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ARRAY · SHAPE · RESHAPE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陣列建立與形狀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import numpy as np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nums = np.arange(12)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0..11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nums.shape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(12,)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grid = nums.reshape(3,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grid.shape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np.vstack([top, grid])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往下疊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88920"/>
            <a:ext cx="3657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一維 (12,)：一排格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4968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2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3118104"/>
            <a:ext cx="548640" cy="45720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6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二維 (3,4)：多排櫃體（reshape）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1464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4105656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1464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4968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2" y="4581144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1464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4968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2" y="5056632"/>
            <a:ext cx="548640" cy="438912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66928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shape＝幾排幾格；dtype＝裝哪種型別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張量 tensor：從一顆到魔術方塊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SCALAR · VECTOR · MATRIX · TENSOR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PY04_NumPy 數值運算.ipynb · 形狀 shape 與維度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np.array(5)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0D  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np.array([1,2,3])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1D  (3,)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np.zeros((3, 4))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2D  (3,4)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np.zeros((2, 3, 4))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3D  (2,3,4)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維度＝定位一格要幾個索引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154680"/>
            <a:ext cx="502920" cy="502920"/>
          </a:xfrm>
          <a:prstGeom prst="ellipse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0D 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64424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8" y="3154680"/>
            <a:ext cx="384048" cy="50292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7033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1D (3,)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4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85248" y="3017520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64624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85248" y="3438144"/>
            <a:ext cx="384048" cy="384048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3886200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2D (2,3)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81360" y="3566160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265408" y="3566160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81360" y="395020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265408" y="395020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064240" y="3383279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448288" y="3383279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064240" y="376732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48288" y="376732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247120" y="3200400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631168" y="3200400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247120" y="358444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631168" y="3584448"/>
            <a:ext cx="365760" cy="36576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60" y="4389120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79BFF"/>
                </a:solidFill>
                <a:latin typeface="Microsoft JhengHei"/>
                <a:ea typeface="Microsoft JhengHei"/>
                <a:cs typeface="Microsoft JhengHei"/>
              </a:rPr>
              <a:t>3D 魔術方塊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52120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維度＝定位一格要幾個索引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圖片(高,寬,色版)、一批資料(筆數,特徵) 都是張量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matplotlib 的層次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FIGURE / AXES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PY06_matplotlib 製圖（基礎）.ipynb · 兩種繪圖介面與圖物件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狀態式：對「目前的圖」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plt.plot(x, 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plt.title('狀態式')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物件式：先拿 fig 與 ax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fig, ax = plt.subplots()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ax.plot(x, 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ax.set_title('物件式')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880360"/>
            <a:ext cx="4206240" cy="1417320"/>
          </a:xfrm>
          <a:prstGeom prst="rect">
            <a:avLst/>
          </a:prstGeom>
          <a:solidFill>
            <a:srgbClr val="222936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Figure 整塊畫布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429000"/>
            <a:ext cx="4206240" cy="1417320"/>
          </a:xfrm>
          <a:prstGeom prst="rect">
            <a:avLst/>
          </a:prstGeom>
          <a:solidFill>
            <a:srgbClr val="12253C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52044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Axes 座標系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977639"/>
            <a:ext cx="4206240" cy="1417320"/>
          </a:xfrm>
          <a:prstGeom prst="rect">
            <a:avLst/>
          </a:prstGeom>
          <a:solidFill>
            <a:srgbClr val="10301A"/>
          </a:solidFill>
          <a:ln w="1587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4069080"/>
            <a:ext cx="4023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元素：折線/標題/軸/圖例/格線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57800"/>
            <a:ext cx="52120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fig, ax = plt.subplots() 一次拿到兩者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物件式可控、可重用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一張圖的元素組成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TITLE · AXIS · LEGEND · GRID ·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比喻圖像 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PY06_matplotlib 製圖（基礎）.ipynb · 圖面標註與元素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fig, ax = plt.subplots()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ax.plot(x, y, label="sin")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折線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ax.set_title("標題")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ax.set_xlabel("x 軸")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ax.set_ylabel("y 軸")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ax.legend()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圖例（靠 label）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ax.grid(True)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格線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55648"/>
            <a:ext cx="73152" cy="60350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52120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比喻　把圖拆成可標註的零件（像展品說明牌）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26080"/>
            <a:ext cx="40233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標題 title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3291840"/>
            <a:ext cx="3931920" cy="2286000"/>
          </a:xfrm>
          <a:prstGeom prst="rect">
            <a:avLst/>
          </a:prstGeom>
          <a:solidFill>
            <a:srgbClr val="12161D"/>
          </a:solidFill>
          <a:ln w="19050">
            <a:solidFill>
              <a:srgbClr val="F2F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8156448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34856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13264" y="3337560"/>
            <a:ext cx="0" cy="2194560"/>
          </a:xfrm>
          <a:prstGeom prst="line">
            <a:avLst/>
          </a:prstGeom>
          <a:ln w="12700">
            <a:solidFill>
              <a:srgbClr val="3A41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543800" y="3703320"/>
            <a:ext cx="1554480" cy="1783080"/>
          </a:xfrm>
          <a:prstGeom prst="line">
            <a:avLst/>
          </a:prstGeom>
          <a:ln w="31750">
            <a:solidFill>
              <a:srgbClr val="5AB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251960"/>
            <a:ext cx="731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y 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66928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x 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3429000"/>
            <a:ext cx="1234440" cy="45720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圖例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669280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折線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向量幾何 shapely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POINT / POLYGON /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比喻圖像 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PY11_地理空間與圖論.ipynb · 向量幾何基礎 shapely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from shapely.geometry import Point, Polygon, box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p1 = Point(0,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p2 = Point(3, 4)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p1.distance(p2)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5.0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6B7686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sq = Polygon([(0,0),(4,0),(4,4),(0,4)])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sq.area     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16.0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box(1,1,3,2)       </a:t>
            </a:r>
            <a:r>
              <a:rPr sz="1600" b="1">
                <a:solidFill>
                  <a:srgbClr val="6B7686"/>
                </a:solidFill>
                <a:latin typeface="Consolas"/>
                <a:ea typeface="Microsoft JhengHei"/>
                <a:cs typeface="Microsoft JhengHei"/>
              </a:rPr>
              <a:t># 矩形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55648"/>
            <a:ext cx="73152" cy="60350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55648"/>
            <a:ext cx="52120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比喻　用座標當樂高：點線面拼出物件，再量面積、距離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5715000"/>
            <a:ext cx="4206240" cy="0"/>
          </a:xfrm>
          <a:prstGeom prst="line">
            <a:avLst/>
          </a:prstGeom>
          <a:ln w="19050">
            <a:solidFill>
              <a:srgbClr val="F2F5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95160" y="3063240"/>
            <a:ext cx="0" cy="2651760"/>
          </a:xfrm>
          <a:prstGeom prst="line">
            <a:avLst/>
          </a:prstGeom>
          <a:ln w="19050">
            <a:solidFill>
              <a:srgbClr val="F2F5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27080" y="5733288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6324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3447288"/>
            <a:ext cx="2267712" cy="2267712"/>
          </a:xfrm>
          <a:prstGeom prst="rect">
            <a:avLst/>
          </a:prstGeom>
          <a:noFill/>
          <a:ln w="31750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FE36F"/>
                </a:solidFill>
                <a:latin typeface="Microsoft JhengHei"/>
                <a:ea typeface="Microsoft JhengHei"/>
                <a:cs typeface="Microsoft JhengHei"/>
              </a:rPr>
              <a:t>Polygon 16</a:t>
            </a:r>
          </a:p>
        </p:txBody>
      </p:sp>
      <p:sp>
        <p:nvSpPr>
          <p:cNvPr id="21" name="Oval 20"/>
          <p:cNvSpPr/>
          <p:nvPr/>
        </p:nvSpPr>
        <p:spPr>
          <a:xfrm>
            <a:off x="8604504" y="3355848"/>
            <a:ext cx="201168" cy="201168"/>
          </a:xfrm>
          <a:prstGeom prst="ellipse">
            <a:avLst/>
          </a:prstGeom>
          <a:solidFill>
            <a:srgbClr val="FF6B6B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6995160" y="3447288"/>
            <a:ext cx="1700784" cy="2267712"/>
          </a:xfrm>
          <a:prstGeom prst="line">
            <a:avLst/>
          </a:prstGeom>
          <a:ln w="2540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5552" y="4184294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dist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03580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6B6B"/>
                </a:solidFill>
                <a:latin typeface="Microsoft JhengHei"/>
                <a:ea typeface="Microsoft JhengHei"/>
                <a:cs typeface="Microsoft JhengHei"/>
              </a:rPr>
              <a:t>Point(3,4)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圖論 networkx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058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NODE · EDGE · WEIGHT ·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程式碼 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來源　PY11_地理空間與圖論.ipynb · 圖論建模 networkx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5486400" cy="4572000"/>
          </a:xfrm>
          <a:prstGeom prst="rect">
            <a:avLst/>
          </a:prstGeom>
          <a:solidFill>
            <a:srgbClr val="12161D"/>
          </a:solidFill>
          <a:ln w="12700">
            <a:solidFill>
              <a:srgbClr val="2C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865376"/>
            <a:ext cx="5230368" cy="43525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79BFF"/>
                </a:solidFill>
                <a:latin typeface="Consolas"/>
                <a:ea typeface="Microsoft JhengHei"/>
                <a:cs typeface="Microsoft JhengHei"/>
              </a:rPr>
              <a:t>import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networkx as nx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F2F5FA"/>
              </a:solidFill>
              <a:latin typeface="Consolas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edges = [("A","B",5),("A","C",8),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("B","C",3),("C","D",6),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("D","E",2),("C","E",9)]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G = nx.Graph()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for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a, b, w </a:t>
            </a:r>
            <a:r>
              <a:rPr sz="1600" b="1">
                <a:solidFill>
                  <a:srgbClr val="F2C14E"/>
                </a:solidFill>
                <a:latin typeface="Consolas"/>
                <a:ea typeface="Microsoft JhengHei"/>
                <a:cs typeface="Microsoft JhengHei"/>
              </a:rPr>
              <a:t>in</a:t>
            </a: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edges: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    G.add_edge(a, b, weight=w)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5FA"/>
                </a:solidFill>
                <a:latin typeface="Consolas"/>
                <a:ea typeface="Microsoft JhengHei"/>
                <a:cs typeface="Microsoft JhengHei"/>
              </a:rPr>
              <a:t>dict(G.degree())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196328" y="3401568"/>
            <a:ext cx="731520" cy="118872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62088" y="37947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7848" y="3401568"/>
            <a:ext cx="1097280" cy="10058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76488" y="370332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196328" y="4407408"/>
            <a:ext cx="1828800" cy="18288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10728" y="429767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025128" y="3950208"/>
            <a:ext cx="1554480" cy="45720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02368" y="397763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396728" y="3950208"/>
            <a:ext cx="182880" cy="14630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88168" y="44805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25128" y="4407408"/>
            <a:ext cx="1371600" cy="1005840"/>
          </a:xfrm>
          <a:prstGeom prst="line">
            <a:avLst/>
          </a:prstGeom>
          <a:ln w="25400">
            <a:solidFill>
              <a:srgbClr val="9AA4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10928" y="4709159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310896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6903720" y="429768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8732520" y="411480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10287000" y="365760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1" name="Oval 30"/>
          <p:cNvSpPr/>
          <p:nvPr/>
        </p:nvSpPr>
        <p:spPr>
          <a:xfrm>
            <a:off x="10104120" y="5120640"/>
            <a:ext cx="585216" cy="585216"/>
          </a:xfrm>
          <a:prstGeom prst="ellipse">
            <a:avLst/>
          </a:prstGeom>
          <a:solidFill>
            <a:srgbClr val="12253C"/>
          </a:solidFill>
          <a:ln w="3175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760720"/>
            <a:ext cx="52120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中心性＝關鍵節點（橋樑）；社群＝小圈圈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1573</Words>
  <Application>Microsoft Office PowerPoint</Application>
  <PresentationFormat>寬螢幕</PresentationFormat>
  <Paragraphs>364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scott lu</cp:lastModifiedBy>
  <cp:revision>3</cp:revision>
  <dcterms:created xsi:type="dcterms:W3CDTF">2013-01-27T09:14:16Z</dcterms:created>
  <dcterms:modified xsi:type="dcterms:W3CDTF">2026-06-27T18:54:56Z</dcterms:modified>
  <cp:category/>
</cp:coreProperties>
</file>